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</p:embeddedFont>
    <p:embeddedFont>
      <p:font typeface="Nunito Semi Bold" panose="020B0604020202020204" charset="0"/>
      <p:regular r:id="rId18"/>
    </p:embeddedFont>
    <p:embeddedFont>
      <p:font typeface="PT Sans" panose="020B0503020203020204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81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417067"/>
            <a:ext cx="440255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Olist Brazilian E-Commerce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916906"/>
            <a:ext cx="26976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End-to-End Data Analysis Project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361233"/>
            <a:ext cx="4667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Cleaning · SQL Analysis · Power BI Dashboard · Business Insights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577" y="2768873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Prepared by </a:t>
            </a: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Fathima Sherin </a:t>
            </a: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· MSc AI, ML &amp; Data Science ·</a:t>
            </a:r>
            <a:endParaRPr lang="en-US" sz="11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Dataset: Olist (Kaggle) · 100,000+ Orders · 2016–2018 · 9 Tables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78607"/>
            <a:ext cx="501751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This Presentation Covers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17836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853059"/>
            <a:ext cx="2599209" cy="19050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5" name="Text 3"/>
          <p:cNvSpPr/>
          <p:nvPr/>
        </p:nvSpPr>
        <p:spPr>
          <a:xfrm>
            <a:off x="523577" y="1965945"/>
            <a:ext cx="234426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Overview &amp; Objective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3577" y="2275656"/>
            <a:ext cx="259920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business question, motivation, and 14-day timeline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72358" y="1617836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2358" y="1853059"/>
            <a:ext cx="2599209" cy="19050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9" name="Text 7"/>
          <p:cNvSpPr/>
          <p:nvPr/>
        </p:nvSpPr>
        <p:spPr>
          <a:xfrm>
            <a:off x="3272358" y="196594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&amp; Tech Stack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2358" y="2275656"/>
            <a:ext cx="259920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9-table Olist dataset and the Python · SQL · Power BI pipeline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21139" y="1617836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21139" y="1853059"/>
            <a:ext cx="2599283" cy="19050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3" name="Text 11"/>
          <p:cNvSpPr/>
          <p:nvPr/>
        </p:nvSpPr>
        <p:spPr>
          <a:xfrm>
            <a:off x="6021139" y="1965945"/>
            <a:ext cx="18151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Three Analysis Phases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1139" y="2275656"/>
            <a:ext cx="259928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Cleaning → SQL Analysis → Power BI Dashboard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577" y="3016151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577" y="3251374"/>
            <a:ext cx="3973637" cy="19050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17" name="Text 15"/>
          <p:cNvSpPr/>
          <p:nvPr/>
        </p:nvSpPr>
        <p:spPr>
          <a:xfrm>
            <a:off x="523577" y="3364260"/>
            <a:ext cx="238616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Findings &amp; Recommendations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3577" y="3673971"/>
            <a:ext cx="39736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Revenue, customers, delivery, products — plus 6 actionable recommendations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46786" y="3016151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46786" y="3251374"/>
            <a:ext cx="3973637" cy="19050"/>
          </a:xfrm>
          <a:prstGeom prst="rect">
            <a:avLst/>
          </a:prstGeom>
          <a:solidFill>
            <a:srgbClr val="59ABA9"/>
          </a:solidFill>
          <a:ln/>
        </p:spPr>
      </p:sp>
      <p:sp>
        <p:nvSpPr>
          <p:cNvPr id="21" name="Text 19"/>
          <p:cNvSpPr/>
          <p:nvPr/>
        </p:nvSpPr>
        <p:spPr>
          <a:xfrm>
            <a:off x="4646786" y="336426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Skills &amp; Conclusion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6786" y="3673971"/>
            <a:ext cx="397363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Technical, analytical, and soft skills demonstrated end-to-end</a:t>
            </a:r>
            <a:endParaRPr lang="en-US" sz="11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0524D0-E553-04DE-0DC9-06A8957A1310}"/>
              </a:ext>
            </a:extLst>
          </p:cNvPr>
          <p:cNvSpPr/>
          <p:nvPr/>
        </p:nvSpPr>
        <p:spPr>
          <a:xfrm>
            <a:off x="8033657" y="4807273"/>
            <a:ext cx="1030514" cy="29160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6312" y="338658"/>
            <a:ext cx="2530153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Overview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76312" y="770781"/>
            <a:ext cx="4962376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company has sales data. This project simulates what a real data analyst does from day one — clean messy data, ask sharp business questions, write SQL, build dashboards, and tell a story with numbers.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7567" y="1240185"/>
            <a:ext cx="4801121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Business Question:</a:t>
            </a: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What patterns in revenue, customer behaviour, delivery, and product satisfaction can help Olist grow?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76312" y="1153269"/>
            <a:ext cx="14288" cy="469404"/>
          </a:xfrm>
          <a:prstGeom prst="rect">
            <a:avLst/>
          </a:prstGeom>
          <a:solidFill>
            <a:srgbClr val="F2B42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12" y="1709589"/>
            <a:ext cx="537642" cy="7151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1195" y="1817117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1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991195" y="2021607"/>
            <a:ext cx="4347493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Cleaning</a:t>
            </a:r>
            <a:endParaRPr lang="en-US" sz="8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days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12" y="2424708"/>
            <a:ext cx="537642" cy="7151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1195" y="2532236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2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991195" y="2736726"/>
            <a:ext cx="4347493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Analysis</a:t>
            </a:r>
            <a:endParaRPr lang="en-US" sz="8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days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12" y="3139827"/>
            <a:ext cx="537642" cy="7151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1195" y="3247355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3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991195" y="3451845"/>
            <a:ext cx="4347493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Dashboard</a:t>
            </a:r>
            <a:endParaRPr lang="en-US" sz="8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days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312" y="3854946"/>
            <a:ext cx="537642" cy="7151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91195" y="3962474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4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991195" y="4166964"/>
            <a:ext cx="4347493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Insights &amp; Report</a:t>
            </a:r>
            <a:endParaRPr lang="en-US" sz="8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days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376312" y="4656981"/>
            <a:ext cx="4962376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Total: 14 days end-to-end</a:t>
            </a:r>
            <a:endParaRPr lang="en-US" sz="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B4412-3229-43A2-C4EF-62B5EA5F5172}"/>
              </a:ext>
            </a:extLst>
          </p:cNvPr>
          <p:cNvSpPr/>
          <p:nvPr/>
        </p:nvSpPr>
        <p:spPr>
          <a:xfrm>
            <a:off x="8033657" y="4807273"/>
            <a:ext cx="1030514" cy="29160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08757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Tech Stack Used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47986"/>
            <a:ext cx="8096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+ SQL + Power BI is the most in-demand combination for Data Analyst roles in 2024 — across India and Canada.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155627"/>
            <a:ext cx="299219" cy="299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9799" y="220704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Python + Pandas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09799" y="2516758"/>
            <a:ext cx="346866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cleaning, merging, null handling, and feature engineering in Jupyter Notebook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2155627"/>
            <a:ext cx="299219" cy="299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51686" y="220704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MySQL 8.0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51686" y="2516758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18 SQL queries covering window functions, CTEs, joins, and advanced aggregations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294757"/>
            <a:ext cx="299219" cy="2992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9799" y="334617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Power BI Desktop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09799" y="3655888"/>
            <a:ext cx="346866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4-page interactive dashboard with DAX measures, calculated columns, and cross-filtering slicers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464" y="3294757"/>
            <a:ext cx="299219" cy="2992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51686" y="334617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GitHub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51686" y="3655888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Version control, portfolio documentation, and professional README</a:t>
            </a:r>
            <a:endParaRPr lang="en-US" sz="11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C6EAF9-B58A-C7D2-D753-C67B1D4C0CA4}"/>
              </a:ext>
            </a:extLst>
          </p:cNvPr>
          <p:cNvSpPr/>
          <p:nvPr/>
        </p:nvSpPr>
        <p:spPr>
          <a:xfrm>
            <a:off x="8033657" y="4807273"/>
            <a:ext cx="1030514" cy="29160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167" y="363289"/>
            <a:ext cx="3938439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&amp; Cleaning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8167" y="1034504"/>
            <a:ext cx="1653778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Olist Dataset — Kaggle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8167" y="1341537"/>
            <a:ext cx="3954140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Multi-table, real anonymised Brazilian e-commerce data. 100K+ rows across 9 CSVs — perfect portfolio complexity.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8167" y="1862956"/>
            <a:ext cx="3954140" cy="2788444"/>
          </a:xfrm>
          <a:prstGeom prst="roundRect">
            <a:avLst>
              <a:gd name="adj" fmla="val 704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3899" y="1941165"/>
            <a:ext cx="190529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65747" y="1941165"/>
            <a:ext cx="1510903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Rows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3899" y="2289125"/>
            <a:ext cx="190529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Orders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65747" y="2289125"/>
            <a:ext cx="1510903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99,441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3899" y="2637086"/>
            <a:ext cx="190529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Order Items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65747" y="2637086"/>
            <a:ext cx="1510903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112,650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3899" y="2985046"/>
            <a:ext cx="190529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65747" y="2985046"/>
            <a:ext cx="1510903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99,441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3899" y="3333006"/>
            <a:ext cx="190529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Payments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65747" y="3333006"/>
            <a:ext cx="1510903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103,886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3899" y="3680966"/>
            <a:ext cx="190529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65747" y="3680966"/>
            <a:ext cx="1510903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99,224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3899" y="4028926"/>
            <a:ext cx="190529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Geolocation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5747" y="4028926"/>
            <a:ext cx="1510903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1,000,163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3899" y="4376886"/>
            <a:ext cx="190529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65747" y="4376886"/>
            <a:ext cx="1510903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32,951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455" y="1034504"/>
            <a:ext cx="247746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1 — Data Cleaning Checklist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36455" y="1341537"/>
            <a:ext cx="395414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​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Loaded and inspected all 9 CSV 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455" y="1374204"/>
            <a:ext cx="130894" cy="130894"/>
          </a:xfrm>
          <a:prstGeom prst="roundRect">
            <a:avLst>
              <a:gd name="adj" fmla="val 150020"/>
            </a:avLst>
          </a:prstGeom>
          <a:solidFill>
            <a:srgbClr val="F2B42D"/>
          </a:solidFill>
          <a:ln w="14288">
            <a:solidFill>
              <a:srgbClr val="F2B42D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49" y="1406947"/>
            <a:ext cx="78507" cy="6541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736455" y="1577876"/>
            <a:ext cx="395414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​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Handled null delivery dates for cancelled orders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36455" y="1610544"/>
            <a:ext cx="130894" cy="130894"/>
          </a:xfrm>
          <a:prstGeom prst="roundRect">
            <a:avLst>
              <a:gd name="adj" fmla="val 150020"/>
            </a:avLst>
          </a:prstGeom>
          <a:solidFill>
            <a:srgbClr val="F2B42D"/>
          </a:solidFill>
          <a:ln w="14288">
            <a:solidFill>
              <a:srgbClr val="F2B42D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49" y="1643286"/>
            <a:ext cx="78507" cy="6541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736455" y="1814215"/>
            <a:ext cx="395414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​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Fixed missing product category names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736455" y="1846883"/>
            <a:ext cx="130894" cy="130894"/>
          </a:xfrm>
          <a:prstGeom prst="roundRect">
            <a:avLst>
              <a:gd name="adj" fmla="val 150020"/>
            </a:avLst>
          </a:prstGeom>
          <a:solidFill>
            <a:srgbClr val="F2B42D"/>
          </a:solidFill>
          <a:ln w="14288">
            <a:solidFill>
              <a:srgbClr val="F2B42D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49" y="1879625"/>
            <a:ext cx="78507" cy="6541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736455" y="2050554"/>
            <a:ext cx="395414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​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Converted all dates from string to datetime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736455" y="2083222"/>
            <a:ext cx="130894" cy="130894"/>
          </a:xfrm>
          <a:prstGeom prst="roundRect">
            <a:avLst>
              <a:gd name="adj" fmla="val 150020"/>
            </a:avLst>
          </a:prstGeom>
          <a:solidFill>
            <a:srgbClr val="F2B42D"/>
          </a:solidFill>
          <a:ln w="14288">
            <a:solidFill>
              <a:srgbClr val="F2B42D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49" y="2115964"/>
            <a:ext cx="78507" cy="6541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736455" y="2286893"/>
            <a:ext cx="395414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​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Extracted Year, Month, Day of Week from timestamps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736455" y="2319561"/>
            <a:ext cx="130894" cy="130894"/>
          </a:xfrm>
          <a:prstGeom prst="roundRect">
            <a:avLst>
              <a:gd name="adj" fmla="val 150020"/>
            </a:avLst>
          </a:prstGeom>
          <a:solidFill>
            <a:srgbClr val="F2B42D"/>
          </a:solidFill>
          <a:ln w="14288">
            <a:solidFill>
              <a:srgbClr val="F2B42D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49" y="2352303"/>
            <a:ext cx="78507" cy="6541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736455" y="2523232"/>
            <a:ext cx="395414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​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Calculated delivery_days (purchase → delivery)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736455" y="2555900"/>
            <a:ext cx="130894" cy="130894"/>
          </a:xfrm>
          <a:prstGeom prst="roundRect">
            <a:avLst>
              <a:gd name="adj" fmla="val 150020"/>
            </a:avLst>
          </a:prstGeom>
          <a:solidFill>
            <a:srgbClr val="F2B42D"/>
          </a:solidFill>
          <a:ln w="14288">
            <a:solidFill>
              <a:srgbClr val="F2B42D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49" y="2588642"/>
            <a:ext cx="78507" cy="6541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736455" y="2759571"/>
            <a:ext cx="395414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​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Translated category names Portuguese → English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736455" y="2792239"/>
            <a:ext cx="130894" cy="130894"/>
          </a:xfrm>
          <a:prstGeom prst="roundRect">
            <a:avLst>
              <a:gd name="adj" fmla="val 150020"/>
            </a:avLst>
          </a:prstGeom>
          <a:solidFill>
            <a:srgbClr val="F2B42D"/>
          </a:solidFill>
          <a:ln w="14288">
            <a:solidFill>
              <a:srgbClr val="F2B42D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49" y="2824981"/>
            <a:ext cx="78507" cy="6541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736455" y="2995910"/>
            <a:ext cx="395414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​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Merged all 9 tables into one master DataFrame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4736455" y="3028578"/>
            <a:ext cx="130894" cy="130894"/>
          </a:xfrm>
          <a:prstGeom prst="roundRect">
            <a:avLst>
              <a:gd name="adj" fmla="val 150020"/>
            </a:avLst>
          </a:prstGeom>
          <a:solidFill>
            <a:srgbClr val="F2B42D"/>
          </a:solidFill>
          <a:ln w="14288">
            <a:solidFill>
              <a:srgbClr val="F2B42D"/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49" y="3061320"/>
            <a:ext cx="78507" cy="6541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4736455" y="3232249"/>
            <a:ext cx="3954140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​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Exported olist_master.csv — 99,441 rows · 28 columns · &lt;2% nulls · 0 duplicates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4736455" y="3264917"/>
            <a:ext cx="130894" cy="130894"/>
          </a:xfrm>
          <a:prstGeom prst="roundRect">
            <a:avLst>
              <a:gd name="adj" fmla="val 150020"/>
            </a:avLst>
          </a:prstGeom>
          <a:solidFill>
            <a:srgbClr val="F2B42D"/>
          </a:solidFill>
          <a:ln w="14288">
            <a:solidFill>
              <a:srgbClr val="F2B42D"/>
            </a:solidFill>
            <a:prstDash val="solid"/>
          </a:ln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49" y="3297659"/>
            <a:ext cx="78507" cy="6541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EB37827-1064-2934-FE4C-EB610B9883AF}"/>
              </a:ext>
            </a:extLst>
          </p:cNvPr>
          <p:cNvSpPr/>
          <p:nvPr/>
        </p:nvSpPr>
        <p:spPr>
          <a:xfrm>
            <a:off x="8033657" y="4807273"/>
            <a:ext cx="1030514" cy="29160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412477"/>
            <a:ext cx="3525441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2 — SQL Analysis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66353" y="1041648"/>
            <a:ext cx="8211294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MySQL 8.0 · 18 Queries across 6 categories.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Window functions separate good analysts from great ones — most beginners skip these entirely.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66353" y="1510159"/>
            <a:ext cx="3943127" cy="3087291"/>
          </a:xfrm>
          <a:prstGeom prst="roundRect">
            <a:avLst>
              <a:gd name="adj" fmla="val 647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1115" y="1514921"/>
            <a:ext cx="3933602" cy="3533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04391" y="1590824"/>
            <a:ext cx="13046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Category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80183" y="1590824"/>
            <a:ext cx="2091333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Focus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1115" y="1868239"/>
            <a:ext cx="3933602" cy="3533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4391" y="1944142"/>
            <a:ext cx="13046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 (Q1–Q3)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80183" y="1944142"/>
            <a:ext cx="2091333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Total, monthly trend, payment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1115" y="2221557"/>
            <a:ext cx="3933602" cy="5548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4391" y="2297460"/>
            <a:ext cx="13046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Products (Q4–Q6)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80183" y="2297460"/>
            <a:ext cx="2091333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categories, sellers, revenue share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1115" y="2776389"/>
            <a:ext cx="3933602" cy="3533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4391" y="2852291"/>
            <a:ext cx="13046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 (Q7–Q9)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80183" y="2852291"/>
            <a:ext cx="2091333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States, repeat buyers, acquisition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1115" y="3129707"/>
            <a:ext cx="3933602" cy="3533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04391" y="3205609"/>
            <a:ext cx="13046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Delivery (Q10–Q12)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80183" y="3205609"/>
            <a:ext cx="2091333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On-time rate, avg days, worst states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1115" y="3483025"/>
            <a:ext cx="3933602" cy="5548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4391" y="3558927"/>
            <a:ext cx="13046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Reviews (Q13–Q15)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80183" y="3558927"/>
            <a:ext cx="2091333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Rating distribution, low-rated categories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1115" y="4037856"/>
            <a:ext cx="3933602" cy="5548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4391" y="4113758"/>
            <a:ext cx="130462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Advanced (Q16–Q18)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80183" y="4113758"/>
            <a:ext cx="2091333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Running total, MoM growth, category rank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9283" y="1495276"/>
            <a:ext cx="230847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Advanced SQL Techniques Used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39283" y="1824707"/>
            <a:ext cx="1912218" cy="702766"/>
          </a:xfrm>
          <a:prstGeom prst="roundRect">
            <a:avLst>
              <a:gd name="adj" fmla="val 9759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4995" y="1824707"/>
            <a:ext cx="57150" cy="702766"/>
          </a:xfrm>
          <a:prstGeom prst="roundRect">
            <a:avLst>
              <a:gd name="adj" fmla="val 349735"/>
            </a:avLst>
          </a:prstGeom>
          <a:solidFill>
            <a:srgbClr val="F2B42D"/>
          </a:solidFill>
          <a:ln/>
        </p:spPr>
      </p:sp>
      <p:sp>
        <p:nvSpPr>
          <p:cNvPr id="29" name="Text 27"/>
          <p:cNvSpPr/>
          <p:nvPr/>
        </p:nvSpPr>
        <p:spPr>
          <a:xfrm>
            <a:off x="4929634" y="1972196"/>
            <a:ext cx="1574378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running cumulative revenue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70117" y="1824707"/>
            <a:ext cx="1912293" cy="702766"/>
          </a:xfrm>
          <a:prstGeom prst="roundRect">
            <a:avLst>
              <a:gd name="adj" fmla="val 9759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55829" y="1824707"/>
            <a:ext cx="57150" cy="702766"/>
          </a:xfrm>
          <a:prstGeom prst="roundRect">
            <a:avLst>
              <a:gd name="adj" fmla="val 349735"/>
            </a:avLst>
          </a:prstGeom>
          <a:solidFill>
            <a:srgbClr val="D7425E"/>
          </a:solidFill>
          <a:ln/>
        </p:spPr>
      </p:sp>
      <p:sp>
        <p:nvSpPr>
          <p:cNvPr id="32" name="Text 30"/>
          <p:cNvSpPr/>
          <p:nvPr/>
        </p:nvSpPr>
        <p:spPr>
          <a:xfrm>
            <a:off x="6960468" y="1972196"/>
            <a:ext cx="1574453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LAG()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month-over-month growth 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39283" y="2646090"/>
            <a:ext cx="1912218" cy="702766"/>
          </a:xfrm>
          <a:prstGeom prst="roundRect">
            <a:avLst>
              <a:gd name="adj" fmla="val 9759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4995" y="2646090"/>
            <a:ext cx="57150" cy="702766"/>
          </a:xfrm>
          <a:prstGeom prst="roundRect">
            <a:avLst>
              <a:gd name="adj" fmla="val 349735"/>
            </a:avLst>
          </a:prstGeom>
          <a:solidFill>
            <a:srgbClr val="DD785E"/>
          </a:solidFill>
          <a:ln/>
        </p:spPr>
      </p:sp>
      <p:sp>
        <p:nvSpPr>
          <p:cNvPr id="35" name="Text 33"/>
          <p:cNvSpPr/>
          <p:nvPr/>
        </p:nvSpPr>
        <p:spPr>
          <a:xfrm>
            <a:off x="4929634" y="2793578"/>
            <a:ext cx="1574378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RANK()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category revenue ranking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70117" y="2646090"/>
            <a:ext cx="1912293" cy="702766"/>
          </a:xfrm>
          <a:prstGeom prst="roundRect">
            <a:avLst>
              <a:gd name="adj" fmla="val 9759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55829" y="2646090"/>
            <a:ext cx="57150" cy="702766"/>
          </a:xfrm>
          <a:prstGeom prst="roundRect">
            <a:avLst>
              <a:gd name="adj" fmla="val 349735"/>
            </a:avLst>
          </a:prstGeom>
          <a:solidFill>
            <a:srgbClr val="48A8E2"/>
          </a:solidFill>
          <a:ln/>
        </p:spPr>
      </p:sp>
      <p:sp>
        <p:nvSpPr>
          <p:cNvPr id="38" name="Text 36"/>
          <p:cNvSpPr/>
          <p:nvPr/>
        </p:nvSpPr>
        <p:spPr>
          <a:xfrm>
            <a:off x="6960468" y="2793578"/>
            <a:ext cx="1574453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CTEs — repeat buyer segmentation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39283" y="3467472"/>
            <a:ext cx="1912218" cy="702766"/>
          </a:xfrm>
          <a:prstGeom prst="roundRect">
            <a:avLst>
              <a:gd name="adj" fmla="val 9759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59ABA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4995" y="3467472"/>
            <a:ext cx="57150" cy="702766"/>
          </a:xfrm>
          <a:prstGeom prst="roundRect">
            <a:avLst>
              <a:gd name="adj" fmla="val 349735"/>
            </a:avLst>
          </a:prstGeom>
          <a:solidFill>
            <a:srgbClr val="59ABA9"/>
          </a:solidFill>
          <a:ln/>
        </p:spPr>
      </p:sp>
      <p:sp>
        <p:nvSpPr>
          <p:cNvPr id="41" name="Text 39"/>
          <p:cNvSpPr/>
          <p:nvPr/>
        </p:nvSpPr>
        <p:spPr>
          <a:xfrm>
            <a:off x="4929634" y="3614961"/>
            <a:ext cx="1574378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delivery speed bucketing</a:t>
            </a:r>
            <a:endParaRPr lang="en-US" sz="1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4A76EF-C4DB-0EFA-B13D-5E08F8C15DC5}"/>
              </a:ext>
            </a:extLst>
          </p:cNvPr>
          <p:cNvSpPr/>
          <p:nvPr/>
        </p:nvSpPr>
        <p:spPr>
          <a:xfrm>
            <a:off x="8033657" y="4807273"/>
            <a:ext cx="1030514" cy="29160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438448"/>
            <a:ext cx="4885953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3 — Power BI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9095" y="1129605"/>
            <a:ext cx="8145810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4-Page Interactive Dashboard · Warm Sand Theme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9095" y="1505173"/>
            <a:ext cx="4004965" cy="1050280"/>
          </a:xfrm>
          <a:prstGeom prst="roundRect">
            <a:avLst>
              <a:gd name="adj" fmla="val 20366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5960" y="1662038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Page 1 ·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5960" y="1953146"/>
            <a:ext cx="369123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KPI cards · Monthly revenue line · Payment donut · Category bar · Rating distribution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39940" y="1505173"/>
            <a:ext cx="4004965" cy="1050280"/>
          </a:xfrm>
          <a:prstGeom prst="roundRect">
            <a:avLst>
              <a:gd name="adj" fmla="val 20366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96805" y="1662038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Page 2 · Customers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96805" y="1953146"/>
            <a:ext cx="369123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Brazil map · Top states bar · Customer type donut · Acquisition line · Spend 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9095" y="2691333"/>
            <a:ext cx="4004965" cy="1050280"/>
          </a:xfrm>
          <a:prstGeom prst="roundRect">
            <a:avLst>
              <a:gd name="adj" fmla="val 20366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960" y="2848198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Page 3 · Delivery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960" y="3139306"/>
            <a:ext cx="369123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Speed vs rating · On-time donut · Worst &amp; best states · Days distribution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9940" y="2691333"/>
            <a:ext cx="4004965" cy="1050280"/>
          </a:xfrm>
          <a:prstGeom prst="roundRect">
            <a:avLst>
              <a:gd name="adj" fmla="val 20366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6805" y="2848198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Page 4 · Products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96805" y="3139306"/>
            <a:ext cx="369123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Category revenue bar · Revenue share donut · Rating by category · Monthly trend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9095" y="3894460"/>
            <a:ext cx="8145810" cy="810518"/>
          </a:xfrm>
          <a:prstGeom prst="roundRect">
            <a:avLst>
              <a:gd name="adj" fmla="val 26391"/>
            </a:avLst>
          </a:prstGeom>
          <a:solidFill>
            <a:srgbClr val="022349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72" y="4109814"/>
            <a:ext cx="178222" cy="14257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2471" y="4065984"/>
            <a:ext cx="7539856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DAX Measures Written:</a:t>
            </a: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Repeat Buyers % · On-Time Rate % · Avg Delivery Days · Late Orders · Within 1 Week % · Top 5 Category Share % · Top Category Name · Lowest Rated Category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DE486F-E339-8515-1FBE-3C7BB6D830A3}"/>
              </a:ext>
            </a:extLst>
          </p:cNvPr>
          <p:cNvSpPr/>
          <p:nvPr/>
        </p:nvSpPr>
        <p:spPr>
          <a:xfrm>
            <a:off x="8033657" y="4807273"/>
            <a:ext cx="1030514" cy="29160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38" y="480268"/>
            <a:ext cx="5554340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Findings — Revenue &amp; Customers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4538" y="928092"/>
            <a:ext cx="1665908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💰</a:t>
            </a: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Revenue Highlights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4538" y="1384325"/>
            <a:ext cx="2629198" cy="447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R$16M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991567" y="1991618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57327" y="1384325"/>
            <a:ext cx="2629272" cy="447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137%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3774430" y="1991618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Growth 2017→2018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40189" y="1384325"/>
            <a:ext cx="2629272" cy="447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R$160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6557293" y="1991618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Avg Order Value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4538" y="2329235"/>
            <a:ext cx="819492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Credit card dominates at </a:t>
            </a: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74%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payments. November 2017 — driven by Black Friday — was more than double the average monthly revenue.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4538" y="2720206"/>
            <a:ext cx="1719635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👥</a:t>
            </a: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Customer Behaviour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4538" y="3176439"/>
            <a:ext cx="2629198" cy="447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96K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991567" y="3783732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Total Customers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57327" y="3176439"/>
            <a:ext cx="2629272" cy="447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42%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3774430" y="3783732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São Paulo Share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40189" y="3176439"/>
            <a:ext cx="2629272" cy="447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97%</a:t>
            </a:r>
            <a:endParaRPr lang="en-US" sz="3500" dirty="0"/>
          </a:p>
        </p:txBody>
      </p:sp>
      <p:sp>
        <p:nvSpPr>
          <p:cNvPr id="17" name="Text 15"/>
          <p:cNvSpPr/>
          <p:nvPr/>
        </p:nvSpPr>
        <p:spPr>
          <a:xfrm>
            <a:off x="6557293" y="3783732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One-Time Buyers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4538" y="4121348"/>
            <a:ext cx="8194923" cy="541809"/>
          </a:xfrm>
          <a:prstGeom prst="roundRect">
            <a:avLst>
              <a:gd name="adj" fmla="val 37537"/>
            </a:avLst>
          </a:prstGeom>
          <a:solidFill>
            <a:srgbClr val="4B3F0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21" y="4324499"/>
            <a:ext cx="169441" cy="13558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15144" y="4278064"/>
            <a:ext cx="7618735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Only </a:t>
            </a: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3.1%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customers ever return. This is the single biggest business risk identified in the entire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396925"/>
            <a:ext cx="5155927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Findings — Delivery &amp; Products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66353" y="1085404"/>
            <a:ext cx="178355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🚚</a:t>
            </a: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Delivery Performance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6353" y="1419597"/>
            <a:ext cx="3943127" cy="1795165"/>
          </a:xfrm>
          <a:prstGeom prst="roundRect">
            <a:avLst>
              <a:gd name="adj" fmla="val 1113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4391" y="1500262"/>
            <a:ext cx="9112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86830" y="1500262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70212" y="1500262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53594" y="1500262"/>
            <a:ext cx="51792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4391" y="1858342"/>
            <a:ext cx="9112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6830" y="1858342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&lt;7 days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70212" y="1858342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4.3 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53594" y="1858342"/>
            <a:ext cx="51792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4391" y="2216423"/>
            <a:ext cx="9112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Normal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6830" y="2216423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8–14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70212" y="2216423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4.0 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53594" y="2216423"/>
            <a:ext cx="51792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4391" y="2574503"/>
            <a:ext cx="9112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6830" y="2574503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15–30 days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70212" y="2574503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3.5 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53594" y="2574503"/>
            <a:ext cx="51792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4391" y="2932584"/>
            <a:ext cx="9112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Very Slow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6830" y="2932584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&gt;30 days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70212" y="2932584"/>
            <a:ext cx="71221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2.8 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53594" y="2932584"/>
            <a:ext cx="51792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53" y="3348261"/>
            <a:ext cx="3943127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On-time rate: </a:t>
            </a: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92.1%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· Avg delivery: </a:t>
            </a: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12.1 days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· Worst: Roraima (29 days) · Best: São Paulo (8.2 days)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53" y="3884786"/>
            <a:ext cx="3943127" cy="728290"/>
          </a:xfrm>
          <a:prstGeom prst="roundRect">
            <a:avLst>
              <a:gd name="adj" fmla="val 27444"/>
            </a:avLst>
          </a:prstGeom>
          <a:solidFill>
            <a:srgbClr val="450707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54" y="4082281"/>
            <a:ext cx="166539" cy="1332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99294" y="4036665"/>
            <a:ext cx="3376985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Late delivery causes a </a:t>
            </a: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35% rating drop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the most actionable finding in the project.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39283" y="1085404"/>
            <a:ext cx="174404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📦</a:t>
            </a: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Product Performance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39283" y="1404714"/>
            <a:ext cx="3943127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Category: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Health &amp; Beauty — R$1.4M</a:t>
            </a:r>
            <a:endParaRPr lang="en-US" sz="100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5 categories = 52%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total revenue · 73 unique categories · 32,951 products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39283" y="2142753"/>
            <a:ext cx="3943127" cy="1785640"/>
          </a:xfrm>
          <a:prstGeom prst="roundRect">
            <a:avLst>
              <a:gd name="adj" fmla="val 1119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44045" y="2147515"/>
            <a:ext cx="3933602" cy="3533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4877321" y="2223418"/>
            <a:ext cx="2288009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36495" y="2223418"/>
            <a:ext cx="110795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Rating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44045" y="2500833"/>
            <a:ext cx="3933602" cy="3533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4877321" y="2576736"/>
            <a:ext cx="2288009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Books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436495" y="2576736"/>
            <a:ext cx="110795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4.6 ★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44045" y="2854151"/>
            <a:ext cx="3933602" cy="3533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4877321" y="2930054"/>
            <a:ext cx="2288009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Fashion Children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436495" y="2930054"/>
            <a:ext cx="110795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4.4 ★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744045" y="3207469"/>
            <a:ext cx="3933602" cy="3580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4877321" y="3283372"/>
            <a:ext cx="228800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Security Services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⚠️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436495" y="3283372"/>
            <a:ext cx="110795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2.9 ★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744045" y="3565550"/>
            <a:ext cx="3933602" cy="3580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4877321" y="3641452"/>
            <a:ext cx="228800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Office Furniture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⚠️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436495" y="3641452"/>
            <a:ext cx="110795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3.1 ★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739283" y="4061892"/>
            <a:ext cx="3943127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 and ratings don't always align — Computers ranks 5th in revenue yet scores only 3.9 ★.</a:t>
            </a:r>
            <a:endParaRPr lang="en-US" sz="1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9A8827-71F3-887D-D225-048609B5E4E1}"/>
              </a:ext>
            </a:extLst>
          </p:cNvPr>
          <p:cNvSpPr/>
          <p:nvPr/>
        </p:nvSpPr>
        <p:spPr>
          <a:xfrm>
            <a:off x="8033657" y="4807273"/>
            <a:ext cx="1030514" cy="29160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7562" y="289768"/>
            <a:ext cx="3958233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Recommendations &amp; Skills Demonstrated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87562" y="689446"/>
            <a:ext cx="1214512" cy="143842"/>
          </a:xfrm>
          <a:prstGeom prst="roundRect">
            <a:avLst>
              <a:gd name="adj" fmla="val 74108"/>
            </a:avLst>
          </a:prstGeom>
          <a:solidFill>
            <a:srgbClr val="483304"/>
          </a:solidFill>
          <a:ln/>
        </p:spPr>
      </p:sp>
      <p:sp>
        <p:nvSpPr>
          <p:cNvPr id="4" name="Text 2"/>
          <p:cNvSpPr/>
          <p:nvPr/>
        </p:nvSpPr>
        <p:spPr>
          <a:xfrm>
            <a:off x="1740843" y="716087"/>
            <a:ext cx="1107951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 ACTIONABLE RECOMMENDATIONS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1687562" y="892597"/>
            <a:ext cx="2776091" cy="606400"/>
          </a:xfrm>
          <a:prstGeom prst="roundRect">
            <a:avLst>
              <a:gd name="adj" fmla="val 21974"/>
            </a:avLst>
          </a:prstGeom>
          <a:solidFill>
            <a:srgbClr val="00002E">
              <a:alpha val="75000"/>
            </a:srgbClr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7087" y="902122"/>
            <a:ext cx="355327" cy="587350"/>
          </a:xfrm>
          <a:prstGeom prst="roundRect">
            <a:avLst>
              <a:gd name="adj" fmla="val 34284"/>
            </a:avLst>
          </a:prstGeom>
          <a:solidFill>
            <a:srgbClr val="00002E"/>
          </a:solidFill>
          <a:ln/>
        </p:spPr>
      </p:sp>
      <p:sp>
        <p:nvSpPr>
          <p:cNvPr id="7" name="Text 5"/>
          <p:cNvSpPr/>
          <p:nvPr/>
        </p:nvSpPr>
        <p:spPr>
          <a:xfrm>
            <a:off x="1803350" y="1112490"/>
            <a:ext cx="133201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5099" y="990898"/>
            <a:ext cx="1090985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Black Friday Campaign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05099" y="1174179"/>
            <a:ext cx="2260253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November drives 3× normal orders — dedicated early-access deals could amplify this further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87562" y="1551682"/>
            <a:ext cx="2776091" cy="606400"/>
          </a:xfrm>
          <a:prstGeom prst="roundRect">
            <a:avLst>
              <a:gd name="adj" fmla="val 21974"/>
            </a:avLst>
          </a:prstGeom>
          <a:solidFill>
            <a:srgbClr val="00002E">
              <a:alpha val="75000"/>
            </a:srgbClr>
          </a:solidFill>
          <a:ln w="9525">
            <a:solidFill>
              <a:srgbClr val="D742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7087" y="1561207"/>
            <a:ext cx="355327" cy="587350"/>
          </a:xfrm>
          <a:prstGeom prst="roundRect">
            <a:avLst>
              <a:gd name="adj" fmla="val 34284"/>
            </a:avLst>
          </a:prstGeom>
          <a:solidFill>
            <a:srgbClr val="00002E"/>
          </a:solidFill>
          <a:ln/>
        </p:spPr>
      </p:sp>
      <p:sp>
        <p:nvSpPr>
          <p:cNvPr id="12" name="Text 10"/>
          <p:cNvSpPr/>
          <p:nvPr/>
        </p:nvSpPr>
        <p:spPr>
          <a:xfrm>
            <a:off x="1803350" y="1771576"/>
            <a:ext cx="133201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5099" y="1649983"/>
            <a:ext cx="1536278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Customer Retention Programme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5099" y="1833265"/>
            <a:ext cx="2260253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97% churn risk — loyalty points, personalised follow-up emails, and recommendation engine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87562" y="2210767"/>
            <a:ext cx="2776091" cy="606400"/>
          </a:xfrm>
          <a:prstGeom prst="roundRect">
            <a:avLst>
              <a:gd name="adj" fmla="val 21974"/>
            </a:avLst>
          </a:prstGeom>
          <a:solidFill>
            <a:srgbClr val="00002E">
              <a:alpha val="75000"/>
            </a:srgbClr>
          </a:solidFill>
          <a:ln w="9525">
            <a:solidFill>
              <a:srgbClr val="DD78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7087" y="2220292"/>
            <a:ext cx="355327" cy="587350"/>
          </a:xfrm>
          <a:prstGeom prst="roundRect">
            <a:avLst>
              <a:gd name="adj" fmla="val 34284"/>
            </a:avLst>
          </a:prstGeom>
          <a:solidFill>
            <a:srgbClr val="00002E"/>
          </a:solidFill>
          <a:ln/>
        </p:spPr>
      </p:sp>
      <p:sp>
        <p:nvSpPr>
          <p:cNvPr id="17" name="Text 15"/>
          <p:cNvSpPr/>
          <p:nvPr/>
        </p:nvSpPr>
        <p:spPr>
          <a:xfrm>
            <a:off x="1803350" y="2430661"/>
            <a:ext cx="133201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5099" y="2309068"/>
            <a:ext cx="1047601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Northern Logistics 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5099" y="2492350"/>
            <a:ext cx="2260253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26–29 day delivery in Roraima, Amapá &amp; Amazonas — regional fulfilment centres needed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687562" y="2869853"/>
            <a:ext cx="2776091" cy="606400"/>
          </a:xfrm>
          <a:prstGeom prst="roundRect">
            <a:avLst>
              <a:gd name="adj" fmla="val 21974"/>
            </a:avLst>
          </a:prstGeom>
          <a:solidFill>
            <a:srgbClr val="00002E">
              <a:alpha val="75000"/>
            </a:srgbClr>
          </a:solidFill>
          <a:ln w="9525">
            <a:solidFill>
              <a:srgbClr val="48A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97087" y="2879378"/>
            <a:ext cx="355327" cy="587350"/>
          </a:xfrm>
          <a:prstGeom prst="roundRect">
            <a:avLst>
              <a:gd name="adj" fmla="val 34284"/>
            </a:avLst>
          </a:prstGeom>
          <a:solidFill>
            <a:srgbClr val="00002E"/>
          </a:solidFill>
          <a:ln/>
        </p:spPr>
      </p:sp>
      <p:sp>
        <p:nvSpPr>
          <p:cNvPr id="22" name="Text 20"/>
          <p:cNvSpPr/>
          <p:nvPr/>
        </p:nvSpPr>
        <p:spPr>
          <a:xfrm>
            <a:off x="1803350" y="3089746"/>
            <a:ext cx="133201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5099" y="2968154"/>
            <a:ext cx="1045071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Expand in RJ &amp; MG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05099" y="3151436"/>
            <a:ext cx="2260253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Strong second and third markets with significant untapped growth potential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687562" y="3528938"/>
            <a:ext cx="2776091" cy="606400"/>
          </a:xfrm>
          <a:prstGeom prst="roundRect">
            <a:avLst>
              <a:gd name="adj" fmla="val 21974"/>
            </a:avLst>
          </a:prstGeom>
          <a:solidFill>
            <a:srgbClr val="00002E">
              <a:alpha val="75000"/>
            </a:srgbClr>
          </a:solidFill>
          <a:ln w="9525">
            <a:solidFill>
              <a:srgbClr val="59AB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7087" y="3538463"/>
            <a:ext cx="355327" cy="587350"/>
          </a:xfrm>
          <a:prstGeom prst="roundRect">
            <a:avLst>
              <a:gd name="adj" fmla="val 34284"/>
            </a:avLst>
          </a:prstGeom>
          <a:solidFill>
            <a:srgbClr val="00002E"/>
          </a:solidFill>
          <a:ln/>
        </p:spPr>
      </p:sp>
      <p:sp>
        <p:nvSpPr>
          <p:cNvPr id="27" name="Text 25"/>
          <p:cNvSpPr/>
          <p:nvPr/>
        </p:nvSpPr>
        <p:spPr>
          <a:xfrm>
            <a:off x="1803350" y="3748832"/>
            <a:ext cx="133201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5099" y="3627239"/>
            <a:ext cx="1045071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Fix Security Services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05099" y="3810521"/>
            <a:ext cx="2260253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Lowest rated at 2.9 ★ — investigate seller quality, descriptions, and returns policy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687562" y="4188023"/>
            <a:ext cx="2776091" cy="606400"/>
          </a:xfrm>
          <a:prstGeom prst="roundRect">
            <a:avLst>
              <a:gd name="adj" fmla="val 21974"/>
            </a:avLst>
          </a:prstGeom>
          <a:solidFill>
            <a:srgbClr val="00002E">
              <a:alpha val="75000"/>
            </a:srgbClr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7087" y="4197548"/>
            <a:ext cx="355327" cy="587350"/>
          </a:xfrm>
          <a:prstGeom prst="roundRect">
            <a:avLst>
              <a:gd name="adj" fmla="val 34284"/>
            </a:avLst>
          </a:prstGeom>
          <a:solidFill>
            <a:srgbClr val="00002E"/>
          </a:solidFill>
          <a:ln/>
        </p:spPr>
      </p:sp>
      <p:sp>
        <p:nvSpPr>
          <p:cNvPr id="32" name="Text 30"/>
          <p:cNvSpPr/>
          <p:nvPr/>
        </p:nvSpPr>
        <p:spPr>
          <a:xfrm>
            <a:off x="1803350" y="4407917"/>
            <a:ext cx="133201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5099" y="4286324"/>
            <a:ext cx="1045071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Promote Instalments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5099" y="4469606"/>
            <a:ext cx="2260253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74% already pay by card — instalment options could meaningfully lift average order value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685109" y="689446"/>
            <a:ext cx="862905" cy="153367"/>
          </a:xfrm>
          <a:prstGeom prst="roundRect">
            <a:avLst>
              <a:gd name="adj" fmla="val 69506"/>
            </a:avLst>
          </a:prstGeom>
          <a:noFill/>
          <a:ln w="4763">
            <a:solidFill>
              <a:srgbClr val="F2B4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43152" y="720849"/>
            <a:ext cx="746820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SKILLS DEMONSTRATED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4675584" y="892597"/>
            <a:ext cx="19050" cy="433611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38" name="Text 36"/>
          <p:cNvSpPr/>
          <p:nvPr/>
        </p:nvSpPr>
        <p:spPr>
          <a:xfrm>
            <a:off x="4792935" y="902122"/>
            <a:ext cx="1045071" cy="135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🐍</a:t>
            </a: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Python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92935" y="1090166"/>
            <a:ext cx="1247254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Pandas · null handling · merging · datetime · feature engineering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96521" y="892597"/>
            <a:ext cx="19050" cy="433611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41" name="Text 39"/>
          <p:cNvSpPr/>
          <p:nvPr/>
        </p:nvSpPr>
        <p:spPr>
          <a:xfrm>
            <a:off x="6213872" y="902122"/>
            <a:ext cx="1045071" cy="135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🗄️</a:t>
            </a: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SQL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13872" y="1090166"/>
            <a:ext cx="1247329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18 queries · window functions · CTEs · subqueries · joins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675584" y="1412602"/>
            <a:ext cx="19050" cy="546869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44" name="Text 42"/>
          <p:cNvSpPr/>
          <p:nvPr/>
        </p:nvSpPr>
        <p:spPr>
          <a:xfrm>
            <a:off x="4792935" y="1422127"/>
            <a:ext cx="1045071" cy="135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📊</a:t>
            </a: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Power BI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92935" y="1610171"/>
            <a:ext cx="1247254" cy="22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4-page dashboard · 8 DAX measures · 3 calculated columns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096521" y="1412602"/>
            <a:ext cx="19050" cy="546869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47" name="Text 45"/>
          <p:cNvSpPr/>
          <p:nvPr/>
        </p:nvSpPr>
        <p:spPr>
          <a:xfrm>
            <a:off x="6213872" y="1422127"/>
            <a:ext cx="1045071" cy="135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🧠</a:t>
            </a: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Business Thinking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13872" y="1610171"/>
            <a:ext cx="1247329" cy="339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finding linked to a recommendation · end-to-end in 14 days</a:t>
            </a:r>
            <a:endParaRPr lang="en-US" sz="65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885" y="2128242"/>
            <a:ext cx="111026" cy="88776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15E615DC-4BC3-F8E3-5466-D01A194CC59B}"/>
              </a:ext>
            </a:extLst>
          </p:cNvPr>
          <p:cNvSpPr/>
          <p:nvPr/>
        </p:nvSpPr>
        <p:spPr>
          <a:xfrm>
            <a:off x="8033657" y="4807273"/>
            <a:ext cx="1030514" cy="29160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1114</Words>
  <Application>Microsoft Office PowerPoint</Application>
  <PresentationFormat>On-screen Show (16:9)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Consolas</vt:lpstr>
      <vt:lpstr>Nunito Semi Bold</vt:lpstr>
      <vt:lpstr>Nunito Light</vt:lpstr>
      <vt:lpstr>PT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Fathima Sherin</cp:lastModifiedBy>
  <cp:revision>2</cp:revision>
  <dcterms:created xsi:type="dcterms:W3CDTF">2026-05-14T06:13:03Z</dcterms:created>
  <dcterms:modified xsi:type="dcterms:W3CDTF">2026-05-14T06:22:37Z</dcterms:modified>
</cp:coreProperties>
</file>